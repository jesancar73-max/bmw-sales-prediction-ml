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-62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EA5E9"/>
            </a:solidFill>
            <a:effectLst/>
          </c:spPr>
          <c:dPt>
            <c:idx val="0"/>
          </c:dPt>
          <c:dPt>
            <c:idx val="1"/>
            <c:spPr>
              <a:solidFill>
                <a:srgbClr val="3B82F6"/>
              </a:solidFill>
              <a:effectLst/>
            </c:spPr>
          </c:dPt>
          <c:dPt>
            <c:idx val="2"/>
            <c:spPr>
              <a:solidFill>
                <a:srgbClr val="22C55E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MAE
(norm.)</c:v>
                </c:pt>
                <c:pt idx="1">
                  <c:v>RMSE
(norm.)</c:v>
                </c:pt>
                <c:pt idx="2">
                  <c:v>R²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0.94000000000000006</c:v>
                </c:pt>
                <c:pt idx="1">
                  <c:v>0.91</c:v>
                </c:pt>
                <c:pt idx="2">
                  <c:v>0.95200000000000007</c:v>
                </c:pt>
              </c:numCache>
            </c:numRef>
          </c:val>
        </c:ser>
        <c:dLbls>
          <c:showVal val="1"/>
        </c:dLbls>
        <c:axId val="176415104"/>
        <c:axId val="176416640"/>
      </c:barChart>
      <c:catAx>
        <c:axId val="17641510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76416640"/>
        <c:crosses val="autoZero"/>
        <c:auto val="1"/>
        <c:lblAlgn val="ctr"/>
        <c:lblOffset val="100"/>
        <c:noMultiLvlLbl val="1"/>
      </c:catAx>
      <c:valAx>
        <c:axId val="176416640"/>
        <c:scaling>
          <c:orientation val="minMax"/>
          <c:max val="1"/>
          <c:min val="0.85000000000000009"/>
        </c:scaling>
        <c:axPos val="l"/>
        <c:majorGridlines>
          <c:spPr>
            <a:ln w="508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7641510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6000"/>
      </a:srgbClr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8DCF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Y BIG DATA - NIVEL 3 - RETO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Ventas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Machine Learning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8DCF0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modelado predictivo de ventas globales BMW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8DCF0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2018–2025  ·  Algoritmo: Regresión Lineal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20840" y="411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CLAVE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693408" y="804672"/>
            <a:ext cx="22402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9418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93408" y="1463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93408" y="2103120"/>
            <a:ext cx="22402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224028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93408" y="27614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93408" y="3401568"/>
            <a:ext cx="22402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5387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93408" y="405993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explicada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8874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Analítica de Datos  ·  BMW Global Sales Analysis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57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presentación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88920" y="438912"/>
            <a:ext cx="6126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438912"/>
            <a:ext cx="5029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4389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502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7680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Fuente, variables y estructura de los datos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1188720"/>
            <a:ext cx="6126480" cy="640080"/>
          </a:xfrm>
          <a:prstGeom prst="rect">
            <a:avLst/>
          </a:prstGeom>
          <a:solidFill>
            <a:srgbClr val="EAF2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188720"/>
            <a:ext cx="5029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188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252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5179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encoding y feature engineering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938528"/>
            <a:ext cx="6126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938528"/>
            <a:ext cx="5029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19385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002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2677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— entrenamiento y validación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88920" y="2688336"/>
            <a:ext cx="6126480" cy="640080"/>
          </a:xfrm>
          <a:prstGeom prst="rect">
            <a:avLst/>
          </a:prstGeom>
          <a:solidFill>
            <a:srgbClr val="EAF2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688336"/>
            <a:ext cx="5029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68833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2752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0175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MAE-RMSE-R2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3438144"/>
            <a:ext cx="6126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3438144"/>
            <a:ext cx="5029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4381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37673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 vs. valores reales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88920" y="4187952"/>
            <a:ext cx="6126480" cy="640080"/>
          </a:xfrm>
          <a:prstGeom prst="rect">
            <a:avLst/>
          </a:prstGeom>
          <a:solidFill>
            <a:srgbClr val="EAF2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4187952"/>
            <a:ext cx="5029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418795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45171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 y próximos pasos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9057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Analítica de Datos  ·  BI y Big Data — Nivel 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138160" y="48508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Datos: BMW Global Sales 2018–2025</a:t>
            </a:r>
            <a:endParaRPr lang="en-US" sz="2600" dirty="0"/>
          </a:p>
        </p:txBody>
      </p:sp>
      <p:pic>
        <p:nvPicPr>
          <p:cNvPr id="5" name="Image 0" descr="/home/claude/CAPTURA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4846320" cy="26060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349240" y="1170432"/>
            <a:ext cx="3566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49240" y="1170432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441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9320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3.072 registros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89320" y="1536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modelos × 4 regiones × 96 meses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349240" y="2066544"/>
            <a:ext cx="3566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349240" y="2066544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2402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9320" y="2157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variables clave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989320" y="24323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Temporales, geográficas y económicas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349240" y="2962656"/>
            <a:ext cx="3566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349240" y="2962656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13639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89320" y="3054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nulos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989320" y="33284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completo, listo para modelar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11480" y="46131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  ·  Período: enero 2018 – diciembre 2025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11480" y="49057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BMW Global Sales 2018–2025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8138160" y="48508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02–03 · PREPARACIÓN &amp; MODELO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y Entrenamiento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07008"/>
            <a:ext cx="1572768" cy="292608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070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1848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" y="22128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CSV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1752" y="26700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read_csv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19656" y="2103120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29384" y="1207008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29384" y="1207008"/>
            <a:ext cx="1572768" cy="292608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9384" y="12070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618488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02536" y="22128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002536" y="26700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Model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520440" y="2103120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30168" y="1207008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30168" y="1207008"/>
            <a:ext cx="1572768" cy="292608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30168" y="12070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664" y="1618488"/>
            <a:ext cx="493776" cy="4937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03320" y="22128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703320" y="26700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221224" y="2103120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30952" y="1207008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330952" y="1207008"/>
            <a:ext cx="1572768" cy="292608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330952" y="12070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1618488"/>
            <a:ext cx="493776" cy="49377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04104" y="22128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 fit()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404104" y="26700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6922008" y="2103120"/>
            <a:ext cx="914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031736" y="1207008"/>
            <a:ext cx="1572768" cy="1828800"/>
          </a:xfrm>
          <a:prstGeom prst="rect">
            <a:avLst/>
          </a:prstGeom>
          <a:solidFill>
            <a:srgbClr val="0D1B3E"/>
          </a:solidFill>
          <a:ln w="25400">
            <a:solidFill>
              <a:srgbClr val="3B82F6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031736" y="1207008"/>
            <a:ext cx="157276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031736" y="12070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1618488"/>
            <a:ext cx="493776" cy="4937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104888" y="22128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Eval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7104888" y="26700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MAE-RMSE-R2</a:t>
            </a:r>
            <a:endParaRPr lang="en-US" sz="850" dirty="0"/>
          </a:p>
        </p:txBody>
      </p:sp>
      <p:pic>
        <p:nvPicPr>
          <p:cNvPr id="39" name="Image 5" descr="/home/claude/CAPTURA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200400"/>
            <a:ext cx="4206240" cy="162763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40" name="Image 6" descr="/home/claude/CAPTURA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200400"/>
            <a:ext cx="4251960" cy="162763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41" name="Text 32"/>
          <p:cNvSpPr/>
          <p:nvPr/>
        </p:nvSpPr>
        <p:spPr>
          <a:xfrm>
            <a:off x="411480" y="466344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— Importación y preparación</a:t>
            </a:r>
            <a:endParaRPr lang="en-US" sz="750" dirty="0"/>
          </a:p>
        </p:txBody>
      </p:sp>
      <p:sp>
        <p:nvSpPr>
          <p:cNvPr id="42" name="Text 33"/>
          <p:cNvSpPr/>
          <p:nvPr/>
        </p:nvSpPr>
        <p:spPr>
          <a:xfrm>
            <a:off x="4663440" y="466344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— División y entrenamiento del modelo</a:t>
            </a:r>
            <a:endParaRPr lang="en-US" sz="750" dirty="0"/>
          </a:p>
        </p:txBody>
      </p:sp>
      <p:sp>
        <p:nvSpPr>
          <p:cNvPr id="43" name="Shape 3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411480" y="49057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Google Colab · Python 3 · scikit-learn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8138160" y="48508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Evaluación del Modelo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34924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6400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481.76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1389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17007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medio absoluto · ~6% sobre la media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534924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87168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560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690.13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423160" y="27797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54680" y="25786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2889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errores grandes · aún razonable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675888"/>
            <a:ext cx="534924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75888"/>
            <a:ext cx="64008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2423160" y="39684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5468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4078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 de variabilidad explicada por el modelo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502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Precisión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989320" y="868680"/>
          <a:ext cx="29260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9057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sobre conjunto de prueba (20% del dataset · 615 observaciones)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138160" y="48508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VISUALIZACIÓN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 vs. Ventas Reales</a:t>
            </a:r>
            <a:endParaRPr lang="en-US" sz="2600" dirty="0"/>
          </a:p>
        </p:txBody>
      </p:sp>
      <p:pic>
        <p:nvPicPr>
          <p:cNvPr id="5" name="Image 0" descr="/home/claude/CAPTURA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754880" cy="3374136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13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166360" y="1143000"/>
            <a:ext cx="3749040" cy="33741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2180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del Gráfico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8288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87568" y="1773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diagonal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87568" y="2029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siguen la diagonal perfecta, confirmando el R² = 0.952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254203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87568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densidad central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687568" y="2743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se concentra entre 5.000–12.000 uds con desviación mínima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325526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87568" y="3200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dispersión baja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687568" y="3456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2.000–5.000 uds presenta algo más de variación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1808" y="3968496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87568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outliers sistémicos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5687568" y="41696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detectan predicciones extremadamente erróneas en ningún rango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11480" y="49057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generado con Matplotlib en Google Colab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8138160" y="48508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 y Próximos Pasos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08760"/>
            <a:ext cx="21031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6002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inventario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8562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la demanda por modelo y región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24328" y="150876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508760"/>
            <a:ext cx="21031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056" y="16002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recursos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34056" y="18562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asignación comercial a cada mercado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60604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06040"/>
            <a:ext cx="210312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6974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desviación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" y="29535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incumplimientos de objetivos a tiempo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24328" y="260604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24328" y="2606040"/>
            <a:ext cx="21031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26974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Previsión financiera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34056" y="29535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precisión de forecasts trimestrales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45720" cy="3790188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170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56048" y="1508760"/>
            <a:ext cx="3977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1508760"/>
            <a:ext cx="38404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50876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31536" y="156362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31536" y="18196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relaciones no lineales y mejorar rangos extremos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56048" y="2258568"/>
            <a:ext cx="3977640" cy="621792"/>
          </a:xfrm>
          <a:prstGeom prst="rect">
            <a:avLst/>
          </a:prstGeom>
          <a:solidFill>
            <a:srgbClr val="EAF2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2258568"/>
            <a:ext cx="38404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25856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31536" y="23134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adicionales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31536" y="25694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BEV_Share, GDP_Growth, Fuel_Price_Index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56048" y="3008376"/>
            <a:ext cx="3977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56048" y="3008376"/>
            <a:ext cx="38404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00837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31536" y="30632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temporal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31536" y="33192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cross-validation por ciclo económico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56048" y="3758184"/>
            <a:ext cx="3977640" cy="621792"/>
          </a:xfrm>
          <a:prstGeom prst="rect">
            <a:avLst/>
          </a:prstGeom>
          <a:solidFill>
            <a:srgbClr val="EAF2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56048" y="3758184"/>
            <a:ext cx="38404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75818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31536" y="381304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por segmento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31536" y="40690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específicos por región o familia de modelos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9057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Analítica de Datos  ·  BI y Big Data — Nivel 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138160" y="48508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75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predice ventas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95.2% de precisión.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C8DCF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R² de 0.952 y un error relativo del 6% demuestran que la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C8DCF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es suficientemente potente para este dataset.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1296" y="2958084"/>
            <a:ext cx="1640695" cy="777240"/>
          </a:xfrm>
          <a:prstGeom prst="rect">
            <a:avLst/>
          </a:prstGeom>
          <a:solidFill>
            <a:srgbClr val="FFFFFF">
              <a:alpha val="9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992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0.952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2958084"/>
            <a:ext cx="1719072" cy="777240"/>
          </a:xfrm>
          <a:prstGeom prst="rect">
            <a:avLst/>
          </a:prstGeom>
          <a:solidFill>
            <a:srgbClr val="FFFFFF">
              <a:alpha val="9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9992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96312" y="334670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relativo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00154" y="2944368"/>
            <a:ext cx="1580606" cy="777240"/>
          </a:xfrm>
          <a:prstGeom prst="rect">
            <a:avLst/>
          </a:prstGeom>
          <a:solidFill>
            <a:srgbClr val="FFFFFF">
              <a:alpha val="9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0154" y="2999232"/>
            <a:ext cx="15806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00154" y="3346704"/>
            <a:ext cx="1580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594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65392" y="1325880"/>
            <a:ext cx="228600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32588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65392" y="1984248"/>
            <a:ext cx="228600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19842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65392" y="2642616"/>
            <a:ext cx="228600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6426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65392" y="3300984"/>
            <a:ext cx="228600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330098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65392" y="3959352"/>
            <a:ext cx="228600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9593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8746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y Big Data  ·  Nivel 3  ·  Reto 4  ·  Proyecto de Analítica de Datos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563</Words>
  <Application>Microsoft Office PowerPoint</Application>
  <PresentationFormat>Presentación en pantalla (16:9)</PresentationFormat>
  <Paragraphs>151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Ventas con Machine Learning</dc:title>
  <dc:subject>PptxGenJS Presentation</dc:subject>
  <dc:creator>BI y Big Data — Nivel 3</dc:creator>
  <cp:lastModifiedBy>Dell</cp:lastModifiedBy>
  <cp:revision>2</cp:revision>
  <dcterms:created xsi:type="dcterms:W3CDTF">2026-03-11T18:23:43Z</dcterms:created>
  <dcterms:modified xsi:type="dcterms:W3CDTF">2026-03-11T18:33:28Z</dcterms:modified>
</cp:coreProperties>
</file>